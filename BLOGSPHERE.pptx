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lice Bold" charset="1" panose="00000500000000000000"/>
      <p:regular r:id="rId16"/>
    </p:embeddedFont>
    <p:embeddedFont>
      <p:font typeface="Montserrat" charset="1" panose="00000500000000000000"/>
      <p:regular r:id="rId17"/>
    </p:embeddedFont>
    <p:embeddedFont>
      <p:font typeface="Montserrat Bold" charset="1" panose="00000800000000000000"/>
      <p:regular r:id="rId18"/>
    </p:embeddedFont>
    <p:embeddedFont>
      <p:font typeface="Bitter" charset="1" panose="02000000000000000000"/>
      <p:regular r:id="rId19"/>
    </p:embeddedFont>
    <p:embeddedFont>
      <p:font typeface="Bitter Bold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089" y="343429"/>
            <a:ext cx="8013149" cy="8344779"/>
            <a:chOff x="0" y="0"/>
            <a:chExt cx="2110459" cy="2197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0459" cy="2197802"/>
            </a:xfrm>
            <a:custGeom>
              <a:avLst/>
              <a:gdLst/>
              <a:ahLst/>
              <a:cxnLst/>
              <a:rect r="r" b="b" t="t" l="l"/>
              <a:pathLst>
                <a:path h="2197802" w="2110459">
                  <a:moveTo>
                    <a:pt x="0" y="0"/>
                  </a:moveTo>
                  <a:lnTo>
                    <a:pt x="2110459" y="0"/>
                  </a:lnTo>
                  <a:lnTo>
                    <a:pt x="2110459" y="2197802"/>
                  </a:lnTo>
                  <a:lnTo>
                    <a:pt x="0" y="2197802"/>
                  </a:lnTo>
                  <a:close/>
                </a:path>
              </a:pathLst>
            </a:custGeom>
            <a:ln w="38100" cap="sq">
              <a:solidFill>
                <a:srgbClr val="4E6AC3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10459" cy="2235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4299645" cy="10287000"/>
          </a:xfrm>
          <a:custGeom>
            <a:avLst/>
            <a:gdLst/>
            <a:ahLst/>
            <a:cxnLst/>
            <a:rect r="r" b="b" t="t" l="l"/>
            <a:pathLst>
              <a:path h="10287000" w="4299645">
                <a:moveTo>
                  <a:pt x="0" y="0"/>
                </a:moveTo>
                <a:lnTo>
                  <a:pt x="4299645" y="0"/>
                </a:lnTo>
                <a:lnTo>
                  <a:pt x="429964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488465" y="-8060867"/>
            <a:ext cx="8013149" cy="8819467"/>
            <a:chOff x="0" y="0"/>
            <a:chExt cx="2110459" cy="23228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0459" cy="2322823"/>
            </a:xfrm>
            <a:custGeom>
              <a:avLst/>
              <a:gdLst/>
              <a:ahLst/>
              <a:cxnLst/>
              <a:rect r="r" b="b" t="t" l="l"/>
              <a:pathLst>
                <a:path h="2322823" w="2110459">
                  <a:moveTo>
                    <a:pt x="0" y="0"/>
                  </a:moveTo>
                  <a:lnTo>
                    <a:pt x="2110459" y="0"/>
                  </a:lnTo>
                  <a:lnTo>
                    <a:pt x="2110459" y="2322823"/>
                  </a:lnTo>
                  <a:lnTo>
                    <a:pt x="0" y="2322823"/>
                  </a:lnTo>
                  <a:close/>
                </a:path>
              </a:pathLst>
            </a:custGeom>
            <a:solidFill>
              <a:srgbClr val="4E6AC3">
                <a:alpha val="1882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10459" cy="2360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24950" y="376237"/>
            <a:ext cx="7402242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spc="1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BLOGSPHERE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4950" y="1675871"/>
            <a:ext cx="715542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Modern Blog Management Platform</a:t>
            </a:r>
          </a:p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Built Using Java Spring Boot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5147" y="4175207"/>
            <a:ext cx="7455230" cy="524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01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Submitted By:</a:t>
            </a:r>
          </a:p>
          <a:p>
            <a:pPr algn="l">
              <a:lnSpc>
                <a:spcPts val="4160"/>
              </a:lnSpc>
            </a:pPr>
            <a:r>
              <a:rPr lang="en-US" sz="3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Rahul Kumar Chourasia</a:t>
            </a:r>
          </a:p>
          <a:p>
            <a:pPr algn="l">
              <a:lnSpc>
                <a:spcPts val="4160"/>
              </a:lnSpc>
            </a:pPr>
            <a:r>
              <a:rPr lang="en-US" sz="301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Stack:</a:t>
            </a:r>
          </a:p>
          <a:p>
            <a:pPr algn="l">
              <a:lnSpc>
                <a:spcPts val="4160"/>
              </a:lnSpc>
            </a:pPr>
            <a:r>
              <a:rPr lang="en-US" sz="3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Java 21, Spring Boot, Thymeleaf, H2 Database</a:t>
            </a:r>
          </a:p>
          <a:p>
            <a:pPr algn="l">
              <a:lnSpc>
                <a:spcPts val="4160"/>
              </a:lnSpc>
            </a:pPr>
            <a:r>
              <a:rPr lang="en-US" sz="301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Internship Project Submitted To</a:t>
            </a:r>
          </a:p>
          <a:p>
            <a:pPr algn="l">
              <a:lnSpc>
                <a:spcPts val="4160"/>
              </a:lnSpc>
            </a:pPr>
            <a:r>
              <a:rPr lang="en-US" sz="3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Java Development Internship Program</a:t>
            </a: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8829394"/>
            <a:ext cx="18288000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"Designing a simple, scalable, and database-driven blogging platform using modern Java technologies."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16791" y="940165"/>
            <a:ext cx="8230791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INTERNSHIP PROJECT REPORT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83106" y="2456921"/>
            <a:ext cx="3629157" cy="440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b="true" sz="3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Developed Using</a:t>
            </a:r>
          </a:p>
          <a:p>
            <a:pPr algn="ctr">
              <a:lnSpc>
                <a:spcPts val="4416"/>
              </a:lnSpc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Java 21</a:t>
            </a:r>
          </a:p>
          <a:p>
            <a:pPr algn="ctr">
              <a:lnSpc>
                <a:spcPts val="4416"/>
              </a:lnSpc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Spring Boot</a:t>
            </a:r>
          </a:p>
          <a:p>
            <a:pPr algn="ctr">
              <a:lnSpc>
                <a:spcPts val="4416"/>
              </a:lnSpc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Spring Data JPA</a:t>
            </a:r>
          </a:p>
          <a:p>
            <a:pPr algn="ctr">
              <a:lnSpc>
                <a:spcPts val="4416"/>
              </a:lnSpc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Thymeleaf</a:t>
            </a:r>
          </a:p>
          <a:p>
            <a:pPr algn="ctr">
              <a:lnSpc>
                <a:spcPts val="4416"/>
              </a:lnSpc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H2 Database</a:t>
            </a:r>
          </a:p>
          <a:p>
            <a:pPr algn="ctr">
              <a:lnSpc>
                <a:spcPts val="4416"/>
              </a:lnSpc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Maven</a:t>
            </a:r>
          </a:p>
          <a:p>
            <a:pPr algn="ctr">
              <a:lnSpc>
                <a:spcPts val="4416"/>
              </a:lnSpc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Bootstrap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83819" y="2456921"/>
            <a:ext cx="3713295" cy="440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Features</a:t>
            </a:r>
          </a:p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✓ Create Blog</a:t>
            </a:r>
          </a:p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✓ View Blog</a:t>
            </a:r>
          </a:p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✓ Edit Blog</a:t>
            </a:r>
          </a:p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✓ Delete Blog</a:t>
            </a:r>
          </a:p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✓ Search Blog</a:t>
            </a:r>
          </a:p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✓ Image Upload</a:t>
            </a:r>
          </a:p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✓ Popularity Score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248920" cy="10287000"/>
            <a:chOff x="0" y="0"/>
            <a:chExt cx="296267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267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962678">
                  <a:moveTo>
                    <a:pt x="0" y="0"/>
                  </a:moveTo>
                  <a:lnTo>
                    <a:pt x="2962678" y="0"/>
                  </a:lnTo>
                  <a:lnTo>
                    <a:pt x="296267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784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6267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38983" y="5706240"/>
            <a:ext cx="2388342" cy="2388342"/>
            <a:chOff x="0" y="0"/>
            <a:chExt cx="629028" cy="6290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028" cy="629028"/>
            </a:xfrm>
            <a:custGeom>
              <a:avLst/>
              <a:gdLst/>
              <a:ahLst/>
              <a:cxnLst/>
              <a:rect r="r" b="b" t="t" l="l"/>
              <a:pathLst>
                <a:path h="629028" w="629028">
                  <a:moveTo>
                    <a:pt x="0" y="0"/>
                  </a:moveTo>
                  <a:lnTo>
                    <a:pt x="629028" y="0"/>
                  </a:lnTo>
                  <a:lnTo>
                    <a:pt x="629028" y="629028"/>
                  </a:lnTo>
                  <a:lnTo>
                    <a:pt x="0" y="629028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29028" cy="667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429465"/>
            <a:ext cx="5382416" cy="5426653"/>
            <a:chOff x="0" y="0"/>
            <a:chExt cx="7176555" cy="7235538"/>
          </a:xfrm>
        </p:grpSpPr>
        <p:sp>
          <p:nvSpPr>
            <p:cNvPr name="AutoShape 9" id="9"/>
            <p:cNvSpPr/>
            <p:nvPr/>
          </p:nvSpPr>
          <p:spPr>
            <a:xfrm flipV="true">
              <a:off x="31750" y="397642"/>
              <a:ext cx="0" cy="6187507"/>
            </a:xfrm>
            <a:prstGeom prst="line">
              <a:avLst/>
            </a:prstGeom>
            <a:ln cap="flat" w="63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753491" y="-47625"/>
              <a:ext cx="6423063" cy="7283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6"/>
                </a:lnSpc>
              </a:pPr>
              <a:r>
                <a:rPr lang="en-US" sz="2613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system allows users to:</a:t>
              </a:r>
            </a:p>
            <a:p>
              <a:pPr algn="l" marL="564273" indent="-282137" lvl="1">
                <a:lnSpc>
                  <a:spcPts val="3606"/>
                </a:lnSpc>
                <a:buAutoNum type="arabicPeriod" startAt="1"/>
              </a:pPr>
              <a:r>
                <a:rPr lang="en-US" sz="261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blog posts</a:t>
              </a:r>
            </a:p>
            <a:p>
              <a:pPr algn="l" marL="564273" indent="-282137" lvl="1">
                <a:lnSpc>
                  <a:spcPts val="3606"/>
                </a:lnSpc>
                <a:buAutoNum type="arabicPeriod" startAt="1"/>
              </a:pPr>
              <a:r>
                <a:rPr lang="en-US" sz="261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View blogs</a:t>
              </a:r>
            </a:p>
            <a:p>
              <a:pPr algn="l" marL="564273" indent="-282137" lvl="1">
                <a:lnSpc>
                  <a:spcPts val="3606"/>
                </a:lnSpc>
                <a:buAutoNum type="arabicPeriod" startAt="1"/>
              </a:pPr>
              <a:r>
                <a:rPr lang="en-US" sz="261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Edit blogs</a:t>
              </a:r>
            </a:p>
            <a:p>
              <a:pPr algn="l" marL="564273" indent="-282137" lvl="1">
                <a:lnSpc>
                  <a:spcPts val="3606"/>
                </a:lnSpc>
                <a:buAutoNum type="arabicPeriod" startAt="1"/>
              </a:pPr>
              <a:r>
                <a:rPr lang="en-US" sz="261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Delete blogs</a:t>
              </a:r>
            </a:p>
            <a:p>
              <a:pPr algn="l" marL="564273" indent="-282137" lvl="1">
                <a:lnSpc>
                  <a:spcPts val="3606"/>
                </a:lnSpc>
                <a:buAutoNum type="arabicPeriod" startAt="1"/>
              </a:pPr>
              <a:r>
                <a:rPr lang="en-US" sz="261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Search blogs</a:t>
              </a:r>
            </a:p>
            <a:p>
              <a:pPr algn="l" marL="564273" indent="-282137" lvl="1">
                <a:lnSpc>
                  <a:spcPts val="3606"/>
                </a:lnSpc>
                <a:buAutoNum type="arabicPeriod" startAt="1"/>
              </a:pPr>
              <a:r>
                <a:rPr lang="en-US" sz="261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Upload images</a:t>
              </a:r>
            </a:p>
            <a:p>
              <a:pPr algn="l" marL="564273" indent="-282137" lvl="1">
                <a:lnSpc>
                  <a:spcPts val="3606"/>
                </a:lnSpc>
                <a:buAutoNum type="arabicPeriod" startAt="1"/>
              </a:pPr>
              <a:r>
                <a:rPr lang="en-US" sz="261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Track popularity scores</a:t>
              </a:r>
            </a:p>
            <a:p>
              <a:pPr algn="l" marL="564273" indent="-282137" lvl="1">
                <a:lnSpc>
                  <a:spcPts val="3606"/>
                </a:lnSpc>
                <a:buAutoNum type="arabicPeriod" startAt="1"/>
              </a:pPr>
              <a:r>
                <a:rPr lang="en-US" sz="261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platform stores all blog data in a persistent H2 database.</a:t>
              </a:r>
            </a:p>
            <a:p>
              <a:pPr algn="l">
                <a:lnSpc>
                  <a:spcPts val="360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151102" y="2423580"/>
            <a:ext cx="11671680" cy="6565320"/>
          </a:xfrm>
          <a:custGeom>
            <a:avLst/>
            <a:gdLst/>
            <a:ahLst/>
            <a:cxnLst/>
            <a:rect r="r" b="b" t="t" l="l"/>
            <a:pathLst>
              <a:path h="6565320" w="11671680">
                <a:moveTo>
                  <a:pt x="0" y="0"/>
                </a:moveTo>
                <a:lnTo>
                  <a:pt x="11671680" y="0"/>
                </a:lnTo>
                <a:lnTo>
                  <a:pt x="11671680" y="6565320"/>
                </a:lnTo>
                <a:lnTo>
                  <a:pt x="0" y="6565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54920" y="588962"/>
            <a:ext cx="7098492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b="true" sz="5499" spc="82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INTRODUCTION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4920" y="1771117"/>
            <a:ext cx="5996182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BlogSphere is a web-based blog management platform developed using Java Spring Boot.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7444" y="1028039"/>
            <a:ext cx="6811273" cy="137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b="true" sz="8499" spc="127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41532"/>
            <a:ext cx="14979872" cy="587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6604" indent="-458302" lvl="1">
              <a:lnSpc>
                <a:spcPts val="5858"/>
              </a:lnSpc>
              <a:buFont typeface="Arial"/>
              <a:buChar char="•"/>
            </a:pPr>
            <a:r>
              <a:rPr lang="en-US" sz="424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Develop a complete blog management system</a:t>
            </a:r>
          </a:p>
          <a:p>
            <a:pPr algn="l" marL="916604" indent="-458302" lvl="1">
              <a:lnSpc>
                <a:spcPts val="5858"/>
              </a:lnSpc>
              <a:buFont typeface="Arial"/>
              <a:buChar char="•"/>
            </a:pPr>
            <a:r>
              <a:rPr lang="en-US" sz="424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 CRUD operations</a:t>
            </a:r>
          </a:p>
          <a:p>
            <a:pPr algn="l" marL="916604" indent="-458302" lvl="1">
              <a:lnSpc>
                <a:spcPts val="5858"/>
              </a:lnSpc>
              <a:buFont typeface="Arial"/>
              <a:buChar char="•"/>
            </a:pPr>
            <a:r>
              <a:rPr lang="en-US" sz="424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Store data using a database</a:t>
            </a:r>
          </a:p>
          <a:p>
            <a:pPr algn="l" marL="916604" indent="-458302" lvl="1">
              <a:lnSpc>
                <a:spcPts val="5858"/>
              </a:lnSpc>
              <a:buFont typeface="Arial"/>
              <a:buChar char="•"/>
            </a:pPr>
            <a:r>
              <a:rPr lang="en-US" sz="424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search functionality</a:t>
            </a:r>
          </a:p>
          <a:p>
            <a:pPr algn="l" marL="916604" indent="-458302" lvl="1">
              <a:lnSpc>
                <a:spcPts val="5858"/>
              </a:lnSpc>
              <a:buFont typeface="Arial"/>
              <a:buChar char="•"/>
            </a:pPr>
            <a:r>
              <a:rPr lang="en-US" sz="424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Support image uploads</a:t>
            </a:r>
          </a:p>
          <a:p>
            <a:pPr algn="l" marL="916604" indent="-458302" lvl="1">
              <a:lnSpc>
                <a:spcPts val="5858"/>
              </a:lnSpc>
              <a:buFont typeface="Arial"/>
              <a:buChar char="•"/>
            </a:pPr>
            <a:r>
              <a:rPr lang="en-US" sz="424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Create a user-friendly interface</a:t>
            </a:r>
          </a:p>
          <a:p>
            <a:pPr algn="l" marL="916604" indent="-458302" lvl="1">
              <a:lnSpc>
                <a:spcPts val="5858"/>
              </a:lnSpc>
              <a:buFont typeface="Arial"/>
              <a:buChar char="•"/>
            </a:pPr>
            <a:r>
              <a:rPr lang="en-US" sz="424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Apply Spring Boot MVC architecture</a:t>
            </a:r>
          </a:p>
          <a:p>
            <a:pPr algn="l">
              <a:lnSpc>
                <a:spcPts val="585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0871" y="2639895"/>
            <a:ext cx="5126431" cy="5046000"/>
            <a:chOff x="0" y="0"/>
            <a:chExt cx="6835242" cy="67279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547232"/>
              <a:ext cx="5547193" cy="5180767"/>
              <a:chOff x="0" y="0"/>
              <a:chExt cx="1095742" cy="102336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95742" cy="1023361"/>
              </a:xfrm>
              <a:custGeom>
                <a:avLst/>
                <a:gdLst/>
                <a:ahLst/>
                <a:cxnLst/>
                <a:rect r="r" b="b" t="t" l="l"/>
                <a:pathLst>
                  <a:path h="1023361" w="1095742">
                    <a:moveTo>
                      <a:pt x="0" y="0"/>
                    </a:moveTo>
                    <a:lnTo>
                      <a:pt x="1095742" y="0"/>
                    </a:lnTo>
                    <a:lnTo>
                      <a:pt x="1095742" y="1023361"/>
                    </a:lnTo>
                    <a:lnTo>
                      <a:pt x="0" y="1023361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95742" cy="10614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4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10968" y="-76200"/>
              <a:ext cx="4786114" cy="980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09"/>
                </a:lnSpc>
              </a:pPr>
              <a:r>
                <a:rPr lang="en-US" sz="45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Technology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10968" y="1741805"/>
              <a:ext cx="6624274" cy="4836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35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Java 21</a:t>
              </a:r>
            </a:p>
            <a:p>
              <a:pPr algn="l">
                <a:lnSpc>
                  <a:spcPts val="4830"/>
                </a:lnSpc>
              </a:pPr>
              <a:r>
                <a:rPr lang="en-US" sz="35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Soring Boot</a:t>
              </a:r>
            </a:p>
            <a:p>
              <a:pPr algn="l">
                <a:lnSpc>
                  <a:spcPts val="4830"/>
                </a:lnSpc>
              </a:pPr>
              <a:r>
                <a:rPr lang="en-US" sz="35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Spring Data JPA</a:t>
              </a:r>
            </a:p>
            <a:p>
              <a:pPr algn="l">
                <a:lnSpc>
                  <a:spcPts val="4830"/>
                </a:lnSpc>
              </a:pPr>
              <a:r>
                <a:rPr lang="en-US" sz="35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Thymeleaf</a:t>
              </a:r>
            </a:p>
            <a:p>
              <a:pPr algn="l">
                <a:lnSpc>
                  <a:spcPts val="4830"/>
                </a:lnSpc>
              </a:pPr>
              <a:r>
                <a:rPr lang="en-US" sz="35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H2 Database</a:t>
              </a:r>
            </a:p>
            <a:p>
              <a:pPr algn="l">
                <a:lnSpc>
                  <a:spcPts val="4830"/>
                </a:lnSpc>
              </a:pPr>
              <a:r>
                <a:rPr lang="en-US" sz="35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Maven Bootstrap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915350" y="2597952"/>
            <a:ext cx="7606367" cy="5087943"/>
            <a:chOff x="0" y="0"/>
            <a:chExt cx="10141822" cy="678392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952565" y="1741805"/>
              <a:ext cx="9189258" cy="4836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35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Backend Framework</a:t>
              </a:r>
            </a:p>
            <a:p>
              <a:pPr algn="l">
                <a:lnSpc>
                  <a:spcPts val="4830"/>
                </a:lnSpc>
              </a:pPr>
              <a:r>
                <a:rPr lang="en-US" sz="35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Database Operations</a:t>
              </a:r>
            </a:p>
            <a:p>
              <a:pPr algn="l">
                <a:lnSpc>
                  <a:spcPts val="4830"/>
                </a:lnSpc>
              </a:pPr>
              <a:r>
                <a:rPr lang="en-US" sz="35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Frontend Templates</a:t>
              </a:r>
            </a:p>
            <a:p>
              <a:pPr algn="l">
                <a:lnSpc>
                  <a:spcPts val="4830"/>
                </a:lnSpc>
              </a:pPr>
              <a:r>
                <a:rPr lang="en-US" sz="35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 Storage</a:t>
              </a:r>
            </a:p>
            <a:p>
              <a:pPr algn="l">
                <a:lnSpc>
                  <a:spcPts val="4830"/>
                </a:lnSpc>
              </a:pPr>
              <a:r>
                <a:rPr lang="en-US" sz="35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Dependency Management</a:t>
              </a:r>
            </a:p>
            <a:p>
              <a:pPr algn="l">
                <a:lnSpc>
                  <a:spcPts val="4830"/>
                </a:lnSpc>
              </a:pPr>
              <a:r>
                <a:rPr lang="en-US" sz="35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Responsive UI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779222" y="-76200"/>
              <a:ext cx="4786114" cy="980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09"/>
                </a:lnSpc>
              </a:pPr>
              <a:r>
                <a:rPr lang="en-US" sz="45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Purpose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0" y="1603156"/>
              <a:ext cx="9211456" cy="5180767"/>
              <a:chOff x="0" y="0"/>
              <a:chExt cx="1819547" cy="102336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19547" cy="1023361"/>
              </a:xfrm>
              <a:custGeom>
                <a:avLst/>
                <a:gdLst/>
                <a:ahLst/>
                <a:cxnLst/>
                <a:rect r="r" b="b" t="t" l="l"/>
                <a:pathLst>
                  <a:path h="1023361" w="1819547">
                    <a:moveTo>
                      <a:pt x="0" y="0"/>
                    </a:moveTo>
                    <a:lnTo>
                      <a:pt x="1819547" y="0"/>
                    </a:lnTo>
                    <a:lnTo>
                      <a:pt x="1819547" y="1023361"/>
                    </a:lnTo>
                    <a:lnTo>
                      <a:pt x="0" y="1023361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819547" cy="10614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49"/>
                  </a:lnSpc>
                </a:pPr>
              </a:p>
            </p:txBody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13521717" y="216164"/>
            <a:ext cx="4113008" cy="9851517"/>
          </a:xfrm>
          <a:custGeom>
            <a:avLst/>
            <a:gdLst/>
            <a:ahLst/>
            <a:cxnLst/>
            <a:rect r="r" b="b" t="t" l="l"/>
            <a:pathLst>
              <a:path h="9851517" w="4113008">
                <a:moveTo>
                  <a:pt x="0" y="0"/>
                </a:moveTo>
                <a:lnTo>
                  <a:pt x="4113008" y="0"/>
                </a:lnTo>
                <a:lnTo>
                  <a:pt x="4113008" y="9851517"/>
                </a:lnTo>
                <a:lnTo>
                  <a:pt x="0" y="985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592152"/>
            <a:ext cx="12201492" cy="137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b="true" sz="8499" spc="127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TECHNOLOGIES USED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95184" y="717734"/>
            <a:ext cx="12297632" cy="1115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3"/>
              </a:lnSpc>
            </a:pPr>
            <a:r>
              <a:rPr lang="en-US" b="true" sz="6903" spc="103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SYSTEM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28857" y="2426415"/>
            <a:ext cx="3932459" cy="6607033"/>
            <a:chOff x="0" y="0"/>
            <a:chExt cx="1035709" cy="17401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5709" cy="1740124"/>
            </a:xfrm>
            <a:custGeom>
              <a:avLst/>
              <a:gdLst/>
              <a:ahLst/>
              <a:cxnLst/>
              <a:rect r="r" b="b" t="t" l="l"/>
              <a:pathLst>
                <a:path h="1740124" w="1035709">
                  <a:moveTo>
                    <a:pt x="0" y="0"/>
                  </a:moveTo>
                  <a:lnTo>
                    <a:pt x="1035709" y="0"/>
                  </a:lnTo>
                  <a:lnTo>
                    <a:pt x="1035709" y="1740124"/>
                  </a:lnTo>
                  <a:lnTo>
                    <a:pt x="0" y="1740124"/>
                  </a:lnTo>
                  <a:close/>
                </a:path>
              </a:pathLst>
            </a:custGeom>
            <a:ln w="38100" cap="sq">
              <a:solidFill>
                <a:srgbClr val="4E6AC3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35709" cy="1778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228857" y="2682396"/>
            <a:ext cx="3932459" cy="595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7"/>
              </a:lnSpc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</a:p>
          <a:p>
            <a:pPr algn="ctr">
              <a:lnSpc>
                <a:spcPts val="4307"/>
              </a:lnSpc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</a:p>
          <a:p>
            <a:pPr algn="ctr">
              <a:lnSpc>
                <a:spcPts val="4307"/>
              </a:lnSpc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Thymeleaf UI</a:t>
            </a:r>
          </a:p>
          <a:p>
            <a:pPr algn="ctr">
              <a:lnSpc>
                <a:spcPts val="4307"/>
              </a:lnSpc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</a:p>
          <a:p>
            <a:pPr algn="ctr">
              <a:lnSpc>
                <a:spcPts val="4307"/>
              </a:lnSpc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Controller Layer</a:t>
            </a:r>
          </a:p>
          <a:p>
            <a:pPr algn="ctr">
              <a:lnSpc>
                <a:spcPts val="4307"/>
              </a:lnSpc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</a:p>
          <a:p>
            <a:pPr algn="ctr">
              <a:lnSpc>
                <a:spcPts val="4307"/>
              </a:lnSpc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 Layer</a:t>
            </a:r>
          </a:p>
          <a:p>
            <a:pPr algn="ctr">
              <a:lnSpc>
                <a:spcPts val="4307"/>
              </a:lnSpc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</a:p>
          <a:p>
            <a:pPr algn="ctr">
              <a:lnSpc>
                <a:spcPts val="4307"/>
              </a:lnSpc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Repository Layer</a:t>
            </a:r>
          </a:p>
          <a:p>
            <a:pPr algn="ctr">
              <a:lnSpc>
                <a:spcPts val="4307"/>
              </a:lnSpc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</a:p>
          <a:p>
            <a:pPr algn="ctr">
              <a:lnSpc>
                <a:spcPts val="4307"/>
              </a:lnSpc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H2 Database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84853" y="3417113"/>
            <a:ext cx="6947787" cy="56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2"/>
              </a:lnSpc>
            </a:pPr>
            <a:r>
              <a:rPr lang="en-US" sz="339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Components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84853" y="4162151"/>
            <a:ext cx="10503147" cy="270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947" indent="-336973" lvl="1">
              <a:lnSpc>
                <a:spcPts val="4307"/>
              </a:lnSpc>
              <a:buFont typeface="Arial"/>
              <a:buChar char="•"/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Controller handles requests</a:t>
            </a:r>
          </a:p>
          <a:p>
            <a:pPr algn="l" marL="673947" indent="-336973" lvl="1">
              <a:lnSpc>
                <a:spcPts val="4307"/>
              </a:lnSpc>
              <a:buFont typeface="Arial"/>
              <a:buChar char="•"/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 contains business logic</a:t>
            </a:r>
          </a:p>
          <a:p>
            <a:pPr algn="l" marL="673947" indent="-336973" lvl="1">
              <a:lnSpc>
                <a:spcPts val="4307"/>
              </a:lnSpc>
              <a:buFont typeface="Arial"/>
              <a:buChar char="•"/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Repository manages database operations</a:t>
            </a:r>
          </a:p>
          <a:p>
            <a:pPr algn="l" marL="673947" indent="-336973" lvl="1">
              <a:lnSpc>
                <a:spcPts val="4307"/>
              </a:lnSpc>
              <a:buFont typeface="Arial"/>
              <a:buChar char="•"/>
            </a:pPr>
            <a:r>
              <a:rPr lang="en-US" sz="31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H2 stores blog information</a:t>
            </a:r>
          </a:p>
          <a:p>
            <a:pPr algn="l">
              <a:lnSpc>
                <a:spcPts val="4307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7326288" y="3153438"/>
            <a:ext cx="9567893" cy="4333525"/>
            <a:chOff x="0" y="0"/>
            <a:chExt cx="2519939" cy="11413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19939" cy="1141340"/>
            </a:xfrm>
            <a:custGeom>
              <a:avLst/>
              <a:gdLst/>
              <a:ahLst/>
              <a:cxnLst/>
              <a:rect r="r" b="b" t="t" l="l"/>
              <a:pathLst>
                <a:path h="1141340" w="2519939">
                  <a:moveTo>
                    <a:pt x="0" y="0"/>
                  </a:moveTo>
                  <a:lnTo>
                    <a:pt x="2519939" y="0"/>
                  </a:lnTo>
                  <a:lnTo>
                    <a:pt x="2519939" y="1141340"/>
                  </a:lnTo>
                  <a:lnTo>
                    <a:pt x="0" y="1141340"/>
                  </a:lnTo>
                  <a:close/>
                </a:path>
              </a:pathLst>
            </a:custGeom>
            <a:ln w="38100" cap="sq">
              <a:solidFill>
                <a:srgbClr val="4E6AC3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519939" cy="1179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3333" y="2584318"/>
            <a:ext cx="6116988" cy="6560177"/>
            <a:chOff x="0" y="0"/>
            <a:chExt cx="8155984" cy="874690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975170" y="-66675"/>
              <a:ext cx="6507647" cy="912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86"/>
                </a:lnSpc>
              </a:pPr>
              <a:r>
                <a:rPr lang="en-US" sz="4193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BlogPost Entity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0" y="1142744"/>
              <a:ext cx="3926991" cy="7604159"/>
              <a:chOff x="0" y="0"/>
              <a:chExt cx="647425" cy="125366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47425" cy="1253663"/>
              </a:xfrm>
              <a:custGeom>
                <a:avLst/>
                <a:gdLst/>
                <a:ahLst/>
                <a:cxnLst/>
                <a:rect r="r" b="b" t="t" l="l"/>
                <a:pathLst>
                  <a:path h="1253663" w="647425">
                    <a:moveTo>
                      <a:pt x="0" y="0"/>
                    </a:moveTo>
                    <a:lnTo>
                      <a:pt x="647425" y="0"/>
                    </a:lnTo>
                    <a:lnTo>
                      <a:pt x="647425" y="1253663"/>
                    </a:lnTo>
                    <a:lnTo>
                      <a:pt x="0" y="1253663"/>
                    </a:lnTo>
                    <a:close/>
                  </a:path>
                </a:pathLst>
              </a:custGeom>
              <a:ln w="38100" cap="sq">
                <a:solidFill>
                  <a:srgbClr val="4E6AC3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47425" cy="1291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73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2700943"/>
              <a:ext cx="3686430" cy="5724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id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title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author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category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excerpt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content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imageName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likes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createdAt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975170" y="1582041"/>
              <a:ext cx="1736091" cy="689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68"/>
                </a:lnSpc>
              </a:pPr>
              <a:r>
                <a:rPr lang="en-US" sz="3237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Field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204162" y="1582041"/>
              <a:ext cx="1736091" cy="689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68"/>
                </a:lnSpc>
              </a:pPr>
              <a:r>
                <a:rPr lang="en-US" sz="3237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Type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228993" y="2700943"/>
              <a:ext cx="3686430" cy="5724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Long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String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String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String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String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Text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String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Integer</a:t>
              </a:r>
            </a:p>
            <a:p>
              <a:pPr algn="ctr">
                <a:lnSpc>
                  <a:spcPts val="3802"/>
                </a:lnSpc>
              </a:pPr>
              <a:r>
                <a:rPr lang="en-US" sz="275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LocalDateTime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4228993" y="1142744"/>
              <a:ext cx="3926991" cy="7604159"/>
              <a:chOff x="0" y="0"/>
              <a:chExt cx="647425" cy="125366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47425" cy="1253663"/>
              </a:xfrm>
              <a:custGeom>
                <a:avLst/>
                <a:gdLst/>
                <a:ahLst/>
                <a:cxnLst/>
                <a:rect r="r" b="b" t="t" l="l"/>
                <a:pathLst>
                  <a:path h="1253663" w="647425">
                    <a:moveTo>
                      <a:pt x="0" y="0"/>
                    </a:moveTo>
                    <a:lnTo>
                      <a:pt x="647425" y="0"/>
                    </a:lnTo>
                    <a:lnTo>
                      <a:pt x="647425" y="1253663"/>
                    </a:lnTo>
                    <a:lnTo>
                      <a:pt x="0" y="1253663"/>
                    </a:lnTo>
                    <a:close/>
                  </a:path>
                </a:pathLst>
              </a:custGeom>
              <a:ln w="38100" cap="sq">
                <a:solidFill>
                  <a:srgbClr val="4E6AC3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47425" cy="1291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73"/>
                  </a:lnSpc>
                </a:pPr>
              </a:p>
            </p:txBody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7288594" y="4790966"/>
            <a:ext cx="4943306" cy="4682213"/>
          </a:xfrm>
          <a:custGeom>
            <a:avLst/>
            <a:gdLst/>
            <a:ahLst/>
            <a:cxnLst/>
            <a:rect r="r" b="b" t="t" l="l"/>
            <a:pathLst>
              <a:path h="4682213" w="4943306">
                <a:moveTo>
                  <a:pt x="0" y="0"/>
                </a:moveTo>
                <a:lnTo>
                  <a:pt x="4943307" y="0"/>
                </a:lnTo>
                <a:lnTo>
                  <a:pt x="4943307" y="4682213"/>
                </a:lnTo>
                <a:lnTo>
                  <a:pt x="0" y="4682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5196" b="-33082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560174" y="1472736"/>
            <a:ext cx="5502973" cy="6636461"/>
          </a:xfrm>
          <a:custGeom>
            <a:avLst/>
            <a:gdLst/>
            <a:ahLst/>
            <a:cxnLst/>
            <a:rect r="r" b="b" t="t" l="l"/>
            <a:pathLst>
              <a:path h="6636461" w="5502973">
                <a:moveTo>
                  <a:pt x="0" y="0"/>
                </a:moveTo>
                <a:lnTo>
                  <a:pt x="5502974" y="0"/>
                </a:lnTo>
                <a:lnTo>
                  <a:pt x="5502974" y="6636461"/>
                </a:lnTo>
                <a:lnTo>
                  <a:pt x="0" y="66364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9976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71934" y="102194"/>
            <a:ext cx="13744132" cy="137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b="true" sz="8499" spc="127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DATABASE STRUCTURE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59629" y="5143500"/>
            <a:ext cx="8513195" cy="4788672"/>
          </a:xfrm>
          <a:custGeom>
            <a:avLst/>
            <a:gdLst/>
            <a:ahLst/>
            <a:cxnLst/>
            <a:rect r="r" b="b" t="t" l="l"/>
            <a:pathLst>
              <a:path h="4788672" w="8513195">
                <a:moveTo>
                  <a:pt x="0" y="0"/>
                </a:moveTo>
                <a:lnTo>
                  <a:pt x="8513195" y="0"/>
                </a:lnTo>
                <a:lnTo>
                  <a:pt x="8513195" y="4788672"/>
                </a:lnTo>
                <a:lnTo>
                  <a:pt x="0" y="4788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8930" y="5143500"/>
            <a:ext cx="8411275" cy="4731342"/>
          </a:xfrm>
          <a:custGeom>
            <a:avLst/>
            <a:gdLst/>
            <a:ahLst/>
            <a:cxnLst/>
            <a:rect r="r" b="b" t="t" l="l"/>
            <a:pathLst>
              <a:path h="4731342" w="8411275">
                <a:moveTo>
                  <a:pt x="0" y="0"/>
                </a:moveTo>
                <a:lnTo>
                  <a:pt x="8411274" y="0"/>
                </a:lnTo>
                <a:lnTo>
                  <a:pt x="8411274" y="4731342"/>
                </a:lnTo>
                <a:lnTo>
                  <a:pt x="0" y="47313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77880" y="629246"/>
            <a:ext cx="14193836" cy="137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b="true" sz="8499" spc="127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IMPLEMENTED FEATURES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8930" y="2295810"/>
            <a:ext cx="4460345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5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Blog Management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2602" y="3157728"/>
            <a:ext cx="2813001" cy="198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✅ Create Blog</a:t>
            </a:r>
          </a:p>
          <a:p>
            <a:pPr algn="l">
              <a:lnSpc>
                <a:spcPts val="3173"/>
              </a:lnSpc>
            </a:pP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✅ View Blog</a:t>
            </a:r>
          </a:p>
          <a:p>
            <a:pPr algn="l">
              <a:lnSpc>
                <a:spcPts val="3173"/>
              </a:lnSpc>
            </a:pP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✅ Edit Blog</a:t>
            </a:r>
          </a:p>
          <a:p>
            <a:pPr algn="l">
              <a:lnSpc>
                <a:spcPts val="3173"/>
              </a:lnSpc>
            </a:pP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✅ Delete Blog</a:t>
            </a:r>
          </a:p>
          <a:p>
            <a:pPr algn="l">
              <a:lnSpc>
                <a:spcPts val="317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553231" y="2295810"/>
            <a:ext cx="4960017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5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Additional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77362" y="3157728"/>
            <a:ext cx="4711755" cy="198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✅ Search Blog</a:t>
            </a:r>
          </a:p>
          <a:p>
            <a:pPr algn="l">
              <a:lnSpc>
                <a:spcPts val="3173"/>
              </a:lnSpc>
            </a:pP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✅ Image Upload</a:t>
            </a:r>
          </a:p>
          <a:p>
            <a:pPr algn="l">
              <a:lnSpc>
                <a:spcPts val="3173"/>
              </a:lnSpc>
            </a:pP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✅ Popularity Score</a:t>
            </a:r>
          </a:p>
          <a:p>
            <a:pPr algn="l">
              <a:lnSpc>
                <a:spcPts val="3173"/>
              </a:lnSpc>
            </a:pP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✅ Persistent Database Storage</a:t>
            </a:r>
          </a:p>
          <a:p>
            <a:pPr algn="l">
              <a:lnSpc>
                <a:spcPts val="317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33296" y="2128238"/>
            <a:ext cx="11485342" cy="7443191"/>
          </a:xfrm>
          <a:custGeom>
            <a:avLst/>
            <a:gdLst/>
            <a:ahLst/>
            <a:cxnLst/>
            <a:rect r="r" b="b" t="t" l="l"/>
            <a:pathLst>
              <a:path h="7443191" w="11485342">
                <a:moveTo>
                  <a:pt x="0" y="0"/>
                </a:moveTo>
                <a:lnTo>
                  <a:pt x="11485342" y="0"/>
                </a:lnTo>
                <a:lnTo>
                  <a:pt x="11485342" y="7443191"/>
                </a:lnTo>
                <a:lnTo>
                  <a:pt x="0" y="7443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31" t="0" r="-92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27958" y="372071"/>
            <a:ext cx="9232085" cy="137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b="true" sz="8499" spc="127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WORKING 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9342" y="1664404"/>
            <a:ext cx="5992930" cy="833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9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</a:t>
            </a:r>
          </a:p>
          <a:p>
            <a:pPr algn="l">
              <a:lnSpc>
                <a:spcPts val="4409"/>
              </a:lnSpc>
            </a:pPr>
            <a:r>
              <a:rPr lang="en-US" sz="31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 creates a blog post.</a:t>
            </a:r>
          </a:p>
          <a:p>
            <a:pPr algn="l">
              <a:lnSpc>
                <a:spcPts val="4409"/>
              </a:lnSpc>
            </a:pPr>
            <a:r>
              <a:rPr lang="en-US" sz="319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</a:t>
            </a:r>
          </a:p>
          <a:p>
            <a:pPr algn="l">
              <a:lnSpc>
                <a:spcPts val="4409"/>
              </a:lnSpc>
            </a:pPr>
            <a:r>
              <a:rPr lang="en-US" sz="31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Blog information is stored in H2 Database.</a:t>
            </a:r>
          </a:p>
          <a:p>
            <a:pPr algn="l">
              <a:lnSpc>
                <a:spcPts val="4409"/>
              </a:lnSpc>
            </a:pPr>
            <a:r>
              <a:rPr lang="en-US" sz="319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3</a:t>
            </a:r>
          </a:p>
          <a:p>
            <a:pPr algn="l">
              <a:lnSpc>
                <a:spcPts val="4409"/>
              </a:lnSpc>
            </a:pPr>
            <a:r>
              <a:rPr lang="en-US" sz="31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Uploaded images are stored locally.</a:t>
            </a:r>
          </a:p>
          <a:p>
            <a:pPr algn="l">
              <a:lnSpc>
                <a:spcPts val="4409"/>
              </a:lnSpc>
            </a:pPr>
            <a:r>
              <a:rPr lang="en-US" sz="319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4</a:t>
            </a:r>
          </a:p>
          <a:p>
            <a:pPr algn="l">
              <a:lnSpc>
                <a:spcPts val="4409"/>
              </a:lnSpc>
            </a:pPr>
            <a:r>
              <a:rPr lang="en-US" sz="31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Blogs are displayed on the homepage.</a:t>
            </a:r>
          </a:p>
          <a:p>
            <a:pPr algn="l">
              <a:lnSpc>
                <a:spcPts val="4409"/>
              </a:lnSpc>
            </a:pPr>
            <a:r>
              <a:rPr lang="en-US" sz="319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5</a:t>
            </a:r>
          </a:p>
          <a:p>
            <a:pPr algn="l">
              <a:lnSpc>
                <a:spcPts val="4409"/>
              </a:lnSpc>
            </a:pPr>
            <a:r>
              <a:rPr lang="en-US" sz="31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Users can search, edit, delete, and view blogs.</a:t>
            </a:r>
          </a:p>
          <a:p>
            <a:pPr algn="l">
              <a:lnSpc>
                <a:spcPts val="440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6865" y="2032416"/>
            <a:ext cx="4767537" cy="7852749"/>
            <a:chOff x="0" y="0"/>
            <a:chExt cx="1255648" cy="2068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5648" cy="2068214"/>
            </a:xfrm>
            <a:custGeom>
              <a:avLst/>
              <a:gdLst/>
              <a:ahLst/>
              <a:cxnLst/>
              <a:rect r="r" b="b" t="t" l="l"/>
              <a:pathLst>
                <a:path h="2068214" w="1255648">
                  <a:moveTo>
                    <a:pt x="0" y="0"/>
                  </a:moveTo>
                  <a:lnTo>
                    <a:pt x="1255648" y="0"/>
                  </a:lnTo>
                  <a:lnTo>
                    <a:pt x="1255648" y="2068214"/>
                  </a:lnTo>
                  <a:lnTo>
                    <a:pt x="0" y="2068214"/>
                  </a:lnTo>
                  <a:close/>
                </a:path>
              </a:pathLst>
            </a:custGeom>
            <a:ln w="38100" cap="sq">
              <a:solidFill>
                <a:srgbClr val="4E6AC3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5648" cy="210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8930" y="571785"/>
            <a:ext cx="17292591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0"/>
              </a:lnSpc>
            </a:pPr>
            <a:r>
              <a:rPr lang="en-US" b="true" sz="7900" spc="118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 ADVANTAGES &amp; LIMITATIONS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25074" y="2337501"/>
            <a:ext cx="6451036" cy="7547664"/>
            <a:chOff x="0" y="0"/>
            <a:chExt cx="8601382" cy="1006355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76200"/>
              <a:ext cx="8601382" cy="1065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64"/>
                </a:lnSpc>
              </a:pPr>
              <a:r>
                <a:rPr lang="en-US" sz="4902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Advantages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9276"/>
              <a:ext cx="5424624" cy="8914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5483" indent="-347741" lvl="1">
                <a:lnSpc>
                  <a:spcPts val="4445"/>
                </a:lnSpc>
                <a:buFont typeface="Arial"/>
                <a:buChar char="•"/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Easy to use</a:t>
              </a:r>
            </a:p>
            <a:p>
              <a:pPr algn="l" marL="695483" indent="-347741" lvl="1">
                <a:lnSpc>
                  <a:spcPts val="4445"/>
                </a:lnSpc>
                <a:buFont typeface="Arial"/>
                <a:buChar char="•"/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Fast performance</a:t>
              </a:r>
            </a:p>
            <a:p>
              <a:pPr algn="l" marL="695483" indent="-347741" lvl="1">
                <a:lnSpc>
                  <a:spcPts val="4445"/>
                </a:lnSpc>
                <a:buFont typeface="Arial"/>
                <a:buChar char="•"/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Database-driven</a:t>
              </a:r>
            </a:p>
            <a:p>
              <a:pPr algn="l" marL="695483" indent="-347741" lvl="1">
                <a:lnSpc>
                  <a:spcPts val="4445"/>
                </a:lnSpc>
                <a:buFont typeface="Arial"/>
                <a:buChar char="•"/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Responsive interface</a:t>
              </a:r>
            </a:p>
            <a:p>
              <a:pPr algn="l" marL="695483" indent="-347741" lvl="1">
                <a:lnSpc>
                  <a:spcPts val="4445"/>
                </a:lnSpc>
                <a:buFont typeface="Arial"/>
                <a:buChar char="•"/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Supports image uploads</a:t>
              </a:r>
            </a:p>
            <a:p>
              <a:pPr algn="l" marL="695483" indent="-347741" lvl="1">
                <a:lnSpc>
                  <a:spcPts val="4445"/>
                </a:lnSpc>
                <a:buFont typeface="Arial"/>
                <a:buChar char="•"/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Persistent storage</a:t>
              </a:r>
            </a:p>
            <a:p>
              <a:pPr algn="l">
                <a:lnSpc>
                  <a:spcPts val="444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463518" y="2337501"/>
            <a:ext cx="8110067" cy="3065246"/>
            <a:chOff x="0" y="0"/>
            <a:chExt cx="10813423" cy="408699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1248467" y="-76200"/>
              <a:ext cx="9564956" cy="1065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64"/>
                </a:lnSpc>
              </a:pPr>
              <a:r>
                <a:rPr lang="en-US" sz="4902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Limitations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49276"/>
              <a:ext cx="9086204" cy="29377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5483" indent="-347741" lvl="1">
                <a:lnSpc>
                  <a:spcPts val="4445"/>
                </a:lnSpc>
                <a:buFont typeface="Arial"/>
                <a:buChar char="•"/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 user authentication</a:t>
              </a:r>
            </a:p>
            <a:p>
              <a:pPr algn="l" marL="695483" indent="-347741" lvl="1">
                <a:lnSpc>
                  <a:spcPts val="4445"/>
                </a:lnSpc>
                <a:buFont typeface="Arial"/>
                <a:buChar char="•"/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Single-user environment</a:t>
              </a:r>
            </a:p>
            <a:p>
              <a:pPr algn="l" marL="695483" indent="-347741" lvl="1">
                <a:lnSpc>
                  <a:spcPts val="4445"/>
                </a:lnSpc>
                <a:buFont typeface="Arial"/>
                <a:buChar char="•"/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Local image storage only</a:t>
              </a:r>
            </a:p>
            <a:p>
              <a:pPr algn="l">
                <a:lnSpc>
                  <a:spcPts val="444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87600" y="2032416"/>
            <a:ext cx="5841832" cy="7852749"/>
            <a:chOff x="0" y="0"/>
            <a:chExt cx="1538590" cy="20682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38590" cy="2068214"/>
            </a:xfrm>
            <a:custGeom>
              <a:avLst/>
              <a:gdLst/>
              <a:ahLst/>
              <a:cxnLst/>
              <a:rect r="r" b="b" t="t" l="l"/>
              <a:pathLst>
                <a:path h="2068214" w="1538590">
                  <a:moveTo>
                    <a:pt x="0" y="0"/>
                  </a:moveTo>
                  <a:lnTo>
                    <a:pt x="1538590" y="0"/>
                  </a:lnTo>
                  <a:lnTo>
                    <a:pt x="1538590" y="2068214"/>
                  </a:lnTo>
                  <a:lnTo>
                    <a:pt x="0" y="2068214"/>
                  </a:lnTo>
                  <a:close/>
                </a:path>
              </a:pathLst>
            </a:custGeom>
            <a:ln w="38100" cap="sq">
              <a:solidFill>
                <a:srgbClr val="4E6AC3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38590" cy="210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0839" y="2132351"/>
            <a:ext cx="15526322" cy="7502979"/>
            <a:chOff x="0" y="0"/>
            <a:chExt cx="20701762" cy="1000397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356716" cy="10003972"/>
              <a:chOff x="0" y="0"/>
              <a:chExt cx="1255648" cy="197609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55648" cy="1976093"/>
              </a:xfrm>
              <a:custGeom>
                <a:avLst/>
                <a:gdLst/>
                <a:ahLst/>
                <a:cxnLst/>
                <a:rect r="r" b="b" t="t" l="l"/>
                <a:pathLst>
                  <a:path h="1976093" w="1255648">
                    <a:moveTo>
                      <a:pt x="0" y="0"/>
                    </a:moveTo>
                    <a:lnTo>
                      <a:pt x="1255648" y="0"/>
                    </a:lnTo>
                    <a:lnTo>
                      <a:pt x="1255648" y="1976093"/>
                    </a:lnTo>
                    <a:lnTo>
                      <a:pt x="0" y="1976093"/>
                    </a:lnTo>
                    <a:close/>
                  </a:path>
                </a:pathLst>
              </a:custGeom>
              <a:ln w="38100" cap="sq">
                <a:solidFill>
                  <a:srgbClr val="4E6AC3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255648" cy="20141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4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64279" y="237754"/>
              <a:ext cx="6069710" cy="1065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64"/>
                </a:lnSpc>
              </a:pPr>
              <a:r>
                <a:rPr lang="en-US" sz="4902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Future Scope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64279" y="1463230"/>
              <a:ext cx="5424624" cy="81672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5483" indent="-347741" lvl="1">
                <a:lnSpc>
                  <a:spcPts val="4445"/>
                </a:lnSpc>
                <a:buFont typeface="Arial"/>
                <a:buChar char="•"/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User Authentication</a:t>
              </a:r>
            </a:p>
            <a:p>
              <a:pPr algn="l" marL="695483" indent="-347741" lvl="1">
                <a:lnSpc>
                  <a:spcPts val="4445"/>
                </a:lnSpc>
                <a:buFont typeface="Arial"/>
                <a:buChar char="•"/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Comm</a:t>
              </a: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ent System</a:t>
              </a:r>
            </a:p>
            <a:p>
              <a:pPr algn="l" marL="695483" indent="-347741" lvl="1">
                <a:lnSpc>
                  <a:spcPts val="4445"/>
                </a:lnSpc>
                <a:buFont typeface="Arial"/>
                <a:buChar char="•"/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Cloud Image Storage</a:t>
              </a:r>
            </a:p>
            <a:p>
              <a:pPr algn="l" marL="695483" indent="-347741" lvl="1">
                <a:lnSpc>
                  <a:spcPts val="4445"/>
                </a:lnSpc>
                <a:buFont typeface="Arial"/>
                <a:buChar char="•"/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Blog Categories Management</a:t>
              </a:r>
            </a:p>
            <a:p>
              <a:pPr algn="l" marL="695483" indent="-347741" lvl="1">
                <a:lnSpc>
                  <a:spcPts val="4445"/>
                </a:lnSpc>
                <a:buFont typeface="Arial"/>
                <a:buChar char="•"/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Advanced Analytics</a:t>
              </a:r>
            </a:p>
            <a:p>
              <a:pPr algn="l">
                <a:lnSpc>
                  <a:spcPts val="4445"/>
                </a:lnSpc>
              </a:pP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6849964" y="0"/>
              <a:ext cx="13851798" cy="10003972"/>
              <a:chOff x="0" y="0"/>
              <a:chExt cx="2736158" cy="197609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36158" cy="1976093"/>
              </a:xfrm>
              <a:custGeom>
                <a:avLst/>
                <a:gdLst/>
                <a:ahLst/>
                <a:cxnLst/>
                <a:rect r="r" b="b" t="t" l="l"/>
                <a:pathLst>
                  <a:path h="1976093" w="2736158">
                    <a:moveTo>
                      <a:pt x="0" y="0"/>
                    </a:moveTo>
                    <a:lnTo>
                      <a:pt x="2736158" y="0"/>
                    </a:lnTo>
                    <a:lnTo>
                      <a:pt x="2736158" y="1976093"/>
                    </a:lnTo>
                    <a:lnTo>
                      <a:pt x="0" y="1976093"/>
                    </a:lnTo>
                    <a:close/>
                  </a:path>
                </a:pathLst>
              </a:custGeom>
              <a:ln w="38100" cap="sq">
                <a:solidFill>
                  <a:srgbClr val="4E6AC3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736158" cy="20141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4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8231928" y="237754"/>
              <a:ext cx="6489952" cy="1065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64"/>
                </a:lnSpc>
              </a:pPr>
              <a:r>
                <a:rPr lang="en-US" sz="4902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Conclusion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7716062" y="1601813"/>
              <a:ext cx="10785089" cy="6693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45"/>
                </a:lnSpc>
              </a:pPr>
              <a:r>
                <a:rPr lang="en-US" sz="322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BlogSphere successfully demonstrates the implementation of a complete blog management platform using Spring Boot, Thymeleaf, and H2 Database while providing essential CRUD operations and additional features such as search, image upload, and popularity tracking.</a:t>
              </a:r>
            </a:p>
            <a:p>
              <a:pPr algn="just">
                <a:lnSpc>
                  <a:spcPts val="444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64438" y="438217"/>
            <a:ext cx="15159124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7500" spc="112">
                <a:solidFill>
                  <a:srgbClr val="000000"/>
                </a:solidFill>
                <a:latin typeface="Bitter Bold"/>
                <a:ea typeface="Bitter Bold"/>
                <a:cs typeface="Bitter Bold"/>
                <a:sym typeface="Bitter Bold"/>
              </a:rPr>
              <a:t>FUTURE SCOPE &amp;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DAHM7CkkyYE</dc:identifier>
  <dcterms:modified xsi:type="dcterms:W3CDTF">2011-08-01T06:04:30Z</dcterms:modified>
  <cp:revision>1</cp:revision>
  <dc:title>BLOGSPHERE</dc:title>
</cp:coreProperties>
</file>